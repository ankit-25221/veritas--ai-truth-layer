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GEO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18CF8"/>
                </a:solidFill>
              </a:rPr>
              <a:t>Product Strategy &amp; Monetization Roadmap  |  2025–2026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Generative Engine Optimization · AI Visibility · LLM Search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Confidential  |  GEO Team  |  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What we'll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0352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533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The AI Search Revolution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Current state of LLM-driven 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30352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3533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What is GEO?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783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vs. traditional SEO — the paradigm shift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530352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60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542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Featured Feature Deep-Dive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718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LLM Visibility Intelligence Suite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68880"/>
            <a:ext cx="530352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560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542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Competitor Landscape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718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Profound, Peec AI, Otterly, Semrush &amp; more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530352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49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7307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3-Month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1605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Foundation, adoption &amp; quick wins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657600"/>
            <a:ext cx="530352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749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7307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12-Month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Scale, differentiate &amp; enterprise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46320"/>
            <a:ext cx="530352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937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9194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Monetization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3492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Freemium → Pro → Enterprise tiers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846320"/>
            <a:ext cx="530352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937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9194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KPIs &amp; Success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3492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How we measure what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AI Search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The structural shift brands can't ignore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560320" cy="164592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366F1"/>
                </a:solidFill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of Google searches
now return AI Overviews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280160"/>
            <a:ext cx="2560320" cy="164592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0B981"/>
                </a:solidFill>
              </a:rPr>
              <a:t>30-40%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CAGR projected for
GEO services market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0176" y="1280160"/>
            <a:ext cx="2560320" cy="164592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9E0B"/>
                </a:solidFill>
              </a:rPr>
              <a:t>$1T+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digital ad spend
at risk from zero-click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41664" y="1280160"/>
            <a:ext cx="2560320" cy="164592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24544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A78BFA"/>
                </a:solidFill>
              </a:rPr>
              <a:t>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4544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major LLMs now act
as primary search engines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The Paradigm Shift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5029200" cy="256032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❌  Traditional SEO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Keyword Rankings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Blue-link SERP clicks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Backlinks &amp; Domain Authority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657600"/>
            <a:ext cx="5029200" cy="2560320"/>
          </a:xfrm>
          <a:prstGeom prst="rect">
            <a:avLst/>
          </a:prstGeom>
          <a:solidFill>
            <a:srgbClr val="041F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✅  LLM / GEO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Brand Citations in AI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663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Zero-click AI 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166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Entity Trust &amp; Factual Density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663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18CF8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Featured Feature: LLM Visibility Intelligence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Proposed new feature for the GEO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03520" cy="51206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8CF8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🔍  Real-time brand mention tracking across ChatGPT, Gemini, Claude, Perplexity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📊  Share-of-Voice dashboard vs. competitors in AI-generated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🏷️  Sentiment scoring: positive / neutral / negative brand portrayal per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⚡  Citation source analysis — which URLs LLMs cite for your brand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🔔  Alerts when brand drops below visibility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834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📈  Historical trend tracking with weekly change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188720"/>
            <a:ext cx="5852160" cy="51206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8CF8"/>
                </a:solidFill>
              </a:rPr>
              <a:t>User Journey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78308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8288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783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Connect Brand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1305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Enter brand name, keywords &amp; competitors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65176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6974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51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Define 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9992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Set industry-relevant queries to track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52044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5661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5204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Auto-Scan LLMs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67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Scheduled polling across 5+ AI engines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38912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4348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389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Dashboard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7365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Share of Voice, citations, sentiment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525780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5303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257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Action Briefs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6052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AI-generated content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Competitor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GEO &amp; AI Visibility Analytics Tools —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137160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1188720"/>
            <a:ext cx="164592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234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Focus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118872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234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LLMs Covered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188720"/>
            <a:ext cx="100584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234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Pricing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1188720"/>
            <a:ext cx="265176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Differentiator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188720"/>
            <a:ext cx="219456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234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600200"/>
            <a:ext cx="137160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7099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Profound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600200"/>
            <a:ext cx="164592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17099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Enterprise AEO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1600200"/>
            <a:ext cx="118872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17099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5+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1600200"/>
            <a:ext cx="100584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17099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$399+/mo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1600200"/>
            <a:ext cx="265176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17099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Content generation + SOC2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600200"/>
            <a:ext cx="219456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17099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High cost, no PDF checks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221992"/>
            <a:ext cx="137160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Peec 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00200" y="2221992"/>
            <a:ext cx="164592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2331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Regional precision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2221992"/>
            <a:ext cx="118872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2331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4+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40" y="2221992"/>
            <a:ext cx="100584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€85+/mo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40680" y="2221992"/>
            <a:ext cx="265176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115+ languages, UI scraping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2221992"/>
            <a:ext cx="219456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Limited actionability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2843784"/>
            <a:ext cx="137160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295351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Otterly AI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00200" y="2843784"/>
            <a:ext cx="164592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0" y="29535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SMB monitoring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6120" y="2843784"/>
            <a:ext cx="118872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0" y="295351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34840" y="2843784"/>
            <a:ext cx="100584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0" y="295351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$29+/mo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2843784"/>
            <a:ext cx="265176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0" y="2953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Easy setup, GEO audits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2843784"/>
            <a:ext cx="219456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0" y="2953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No competitive intel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3465576"/>
            <a:ext cx="137160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357530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Semrush AI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00200" y="3465576"/>
            <a:ext cx="164592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45920" y="357530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Integrated SEO+AI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46120" y="3465576"/>
            <a:ext cx="118872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0" y="357530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34840" y="3465576"/>
            <a:ext cx="100584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60" y="35753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Add-on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0680" y="3465576"/>
            <a:ext cx="265176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0" y="35753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Unified SEO+AI workflow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92440" y="3465576"/>
            <a:ext cx="219456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38160" y="35753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Shallow AI-specific depth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4087368"/>
            <a:ext cx="137160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419709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BrightEdge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00200" y="4087368"/>
            <a:ext cx="164592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45920" y="419709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Enterprise SEO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46120" y="4087368"/>
            <a:ext cx="118872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91840" y="419709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34840" y="4087368"/>
            <a:ext cx="100584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80560" y="419709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Custom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40680" y="4087368"/>
            <a:ext cx="265176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0" y="41970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Generative Parser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4087368"/>
            <a:ext cx="219456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38160" y="41970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Enterprise-only pricing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4709160"/>
            <a:ext cx="137160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481888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Riff Analytics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00200" y="4709160"/>
            <a:ext cx="164592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45920" y="4818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Multi-model coverage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46120" y="4709160"/>
            <a:ext cx="118872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91840" y="481888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5+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434840" y="4709160"/>
            <a:ext cx="100584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8056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Contact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40680" y="4709160"/>
            <a:ext cx="265176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0" y="48188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Deep multi-LLM tracking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92440" y="4709160"/>
            <a:ext cx="2194560" cy="585216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38160" y="48188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Early stage, no content tools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5330952"/>
            <a:ext cx="1371600" cy="585216"/>
          </a:xfrm>
          <a:prstGeom prst="rect">
            <a:avLst/>
          </a:prstGeom>
          <a:solidFill>
            <a:srgbClr val="1A2A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4320" y="5440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Our GEO ✨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600200" y="5330952"/>
            <a:ext cx="1645920" cy="585216"/>
          </a:xfrm>
          <a:prstGeom prst="rect">
            <a:avLst/>
          </a:prstGeom>
          <a:solidFill>
            <a:srgbClr val="1A2A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645920" y="5440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Full-stack visibility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46120" y="5330952"/>
            <a:ext cx="1188720" cy="585216"/>
          </a:xfrm>
          <a:prstGeom prst="rect">
            <a:avLst/>
          </a:prstGeom>
          <a:solidFill>
            <a:srgbClr val="1A2A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91840" y="5440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6+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34840" y="5330952"/>
            <a:ext cx="1005840" cy="585216"/>
          </a:xfrm>
          <a:prstGeom prst="rect">
            <a:avLst/>
          </a:prstGeom>
          <a:solidFill>
            <a:srgbClr val="1A2A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80560" y="5440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Freemium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40680" y="5330952"/>
            <a:ext cx="2651760" cy="585216"/>
          </a:xfrm>
          <a:prstGeom prst="rect">
            <a:avLst/>
          </a:prstGeom>
          <a:solidFill>
            <a:srgbClr val="1A2A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486400" y="5440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LLM Suite + Fact-check layer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92440" y="5330952"/>
            <a:ext cx="2194560" cy="585216"/>
          </a:xfrm>
          <a:prstGeom prst="rect">
            <a:avLst/>
          </a:prstGeom>
          <a:solidFill>
            <a:srgbClr val="1A2A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3816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— Opportunity 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Short-Term Roadmap: 0–3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Q3 2025 — Foundation &amp; Adoption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566160" cy="51206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56616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Month 1
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Launch LLM Visibility Intelligence Suite (beta)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Integrate ChatGPT, Gemini, Perplexity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Onboard 50 beta brands with white-glove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Establish baseline Share-of-Voice benchmarks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234440"/>
            <a:ext cx="3566160" cy="51206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234440"/>
            <a:ext cx="3566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2618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Month 2
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920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Add Claude &amp; Llama model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743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Launch competitor benchmarking 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566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Release weekly email digest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389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Hit 200 paying customers (Pro tier)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1234440"/>
            <a:ext cx="3566160" cy="51206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1234440"/>
            <a:ext cx="35661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2618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Month 3
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920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Release AI-generated content recommendation briefs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743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Introduce citation source optimization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566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API access for enterprise integrations (beta)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389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Achieve $25K MRR milestone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Long-Term Roadmap: 3–12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Q4 2025 – Q3 2026 — Scale &amp; Differentiate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566160" cy="51206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56616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Q4 2025
Months 4–6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GA launch of LLM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Enterprise SSO &amp; SOC 2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White-label API for agencies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500 paying brands · $75K MRR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234440"/>
            <a:ext cx="3566160" cy="51206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234440"/>
            <a:ext cx="356616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2618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Q1 2026
Months 7–9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920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Multimodal tracking (images, video)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743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Predictive visibility scoring with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566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Salesforce / HubSpot CRM integrations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389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1,000 brands · $180K MRR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1234440"/>
            <a:ext cx="3566160" cy="512064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1234440"/>
            <a:ext cx="3566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2618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Q2–Q3 2026
Months 10–12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920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Self-serve content optimization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743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Industry benchmark reports (public)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566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Series A fundraising readiness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389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▸  2,500 brands · $450K MRR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Monetization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Three-tier model: Freemium → Pro → Enterprise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566160" cy="5212080"/>
          </a:xfrm>
          <a:prstGeom prst="rect">
            <a:avLst/>
          </a:prstGeom>
          <a:solidFill>
            <a:srgbClr val="0F1E3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4A3B8"/>
                </a:solidFill>
              </a:rPr>
              <a:t>🆓 Freemium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$0/mo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04288"/>
            <a:ext cx="3291840" cy="127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1 brand tracked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53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3 LLMs (ChatGPT, Gemini, Perplexity)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838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Weekly reports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5 tracked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445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Community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234440"/>
            <a:ext cx="3566160" cy="521208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207008"/>
            <a:ext cx="35661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⚡ 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$99/mo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304288"/>
            <a:ext cx="3291840" cy="127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5 brands + 3 competitors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953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All 6+ LLMs covered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4838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Daily real-time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0142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50 tracked queries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5445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Content recommendation briefs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Email alerts &amp; Slack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605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Priority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1234440"/>
            <a:ext cx="3566160" cy="5212080"/>
          </a:xfrm>
          <a:prstGeom prst="rect">
            <a:avLst/>
          </a:prstGeom>
          <a:solidFill>
            <a:srgbClr val="0F1E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🏢 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2304288"/>
            <a:ext cx="329184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Unlimited brands &amp; competitors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953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Custom LLM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4838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White-label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0142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API access (full)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5445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SSO + SOC 2 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Dedicated CSM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605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✓  SLA guarantees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KPIs &amp; Success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How we measure product success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03520" cy="1353312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📈  Share of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105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% of AI answers mentioning 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Target: 15%+ for tracked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303520" cy="1353312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89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👥  Paying Brands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105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# of active Pro + Enterprise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Target: 500 by Month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5303520" cy="1353312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98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💰  MRR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19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Monthly Recurring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Target: $75K by Q4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788920"/>
            <a:ext cx="5303520" cy="1353312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898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⏱️  Time-to-First-Insight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19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Minutes from signup to first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Target: &lt; 5 minutes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97680"/>
            <a:ext cx="5303520" cy="1353312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🔄  NPS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28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Net Promoter Score from customer surveys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66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Target: 50+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297680"/>
            <a:ext cx="5303520" cy="1353312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📉  Churn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828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Monthly subscription cancellations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166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Target: &lt; 3% monthly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GEO is the next SEO.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</a:rPr>
              <a:t>Brands that invest in LLM visibility today will dominate AI search tomorrow.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474720"/>
            <a:ext cx="7315200" cy="2011680"/>
          </a:xfrm>
          <a:prstGeom prst="rect">
            <a:avLst/>
          </a:prstGeom>
          <a:solidFill>
            <a:srgbClr val="0F1E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611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4069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✅  Approve LLM Visibility Intelligence Suite for Q3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480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✅  Allocate budget for Tavily + Gemini API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892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✅  Begin beta outreach to 50 target brands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GEO Platform  |  Product Strategy 2025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